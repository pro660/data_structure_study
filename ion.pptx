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retendard Regular"/>
      <p:regular r:id="rId19"/>
    </p:embeddedFont>
    <p:embeddedFont>
      <p:font typeface="Pretendard Light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.fntdata" Type="http://schemas.openxmlformats.org/officeDocument/2006/relationships/font"/><Relationship Id="rId2" Target="presProps.xml" Type="http://schemas.openxmlformats.org/officeDocument/2006/relationships/presProps"/><Relationship Id="rId20" Target="fonts/font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9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13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9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660400" y="0"/>
            <a:ext cx="17246600" cy="5270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13900" y="889000"/>
            <a:ext cx="8902700" cy="8521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797800" y="5270500"/>
            <a:ext cx="10706100" cy="509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130300" y="-241300"/>
            <a:ext cx="11747500" cy="3860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8000" b="false" i="false" u="none" strike="noStrike">
                <a:solidFill>
                  <a:srgbClr val="5B55FF"/>
                </a:solidFill>
                <a:latin typeface="ONE Mobile Title OTF"/>
              </a:rPr>
              <a:t>tiny_search: </a:t>
            </a:r>
            <a:r>
              <a:rPr lang="ko-KR" sz="8000" b="false" i="false" u="none" strike="noStrike">
                <a:solidFill>
                  <a:srgbClr val="5B55FF"/>
                </a:solidFill>
                <a:ea typeface="ONE Mobile Title OTF"/>
              </a:rPr>
              <a:t>간단</a:t>
            </a:r>
            <a:r>
              <a:rPr lang="en-US" sz="8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8000" b="false" i="false" u="none" strike="noStrike">
                <a:solidFill>
                  <a:srgbClr val="5B55FF"/>
                </a:solidFill>
                <a:ea typeface="ONE Mobile Title OTF"/>
              </a:rPr>
              <a:t>역색인</a:t>
            </a:r>
            <a:r>
              <a:rPr lang="en-US" sz="8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8000" b="false" i="false" u="none" strike="noStrike">
                <a:solidFill>
                  <a:srgbClr val="5B55FF"/>
                </a:solidFill>
                <a:ea typeface="ONE Mobile Title OTF"/>
              </a:rPr>
              <a:t>기반</a:t>
            </a:r>
            <a:r>
              <a:rPr lang="en-US" sz="8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8000" b="false" i="false" u="none" strike="noStrike">
                <a:solidFill>
                  <a:srgbClr val="5B55FF"/>
                </a:solidFill>
                <a:ea typeface="ONE Mobile Title OTF"/>
              </a:rPr>
              <a:t>텍스트</a:t>
            </a:r>
            <a:r>
              <a:rPr lang="en-US" sz="8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8000" b="false" i="false" u="none" strike="noStrike">
                <a:solidFill>
                  <a:srgbClr val="5B55FF"/>
                </a:solidFill>
                <a:ea typeface="ONE Mobile Title OTF"/>
              </a:rPr>
              <a:t>검색기</a:t>
            </a:r>
            <a:r>
              <a:rPr lang="en-US" sz="8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8000" b="false" i="false" u="none" strike="noStrike">
                <a:solidFill>
                  <a:srgbClr val="5B55FF"/>
                </a:solidFill>
                <a:ea typeface="ONE Mobile Title OTF"/>
              </a:rPr>
              <a:t>구현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0300" y="8826500"/>
            <a:ext cx="112014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800" b="false" i="false" u="none" strike="noStrike">
                <a:solidFill>
                  <a:srgbClr val="444444"/>
                </a:solidFill>
                <a:latin typeface="ONE Mobile OTF Regular"/>
              </a:rPr>
              <a:t>2025.09.01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0300" y="3784600"/>
            <a:ext cx="112014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3000" b="false" i="false" u="none" strike="noStrike">
                <a:solidFill>
                  <a:srgbClr val="444444"/>
                </a:solidFill>
                <a:ea typeface="ONE Mobile OTF Regular"/>
              </a:rPr>
              <a:t>자료구조</a:t>
            </a:r>
            <a:r>
              <a:rPr lang="en-US" sz="3000" b="false" i="false" u="none" strike="noStrike">
                <a:solidFill>
                  <a:srgbClr val="444444"/>
                </a:solidFill>
                <a:latin typeface="ONE Mobile OTF Regular"/>
              </a:rPr>
              <a:t> </a:t>
            </a:r>
            <a:r>
              <a:rPr lang="ko-KR" sz="3000" b="false" i="false" u="none" strike="noStrike">
                <a:solidFill>
                  <a:srgbClr val="444444"/>
                </a:solidFill>
                <a:ea typeface="ONE Mobile OTF Regular"/>
              </a:rPr>
              <a:t>심화</a:t>
            </a:r>
            <a:r>
              <a:rPr lang="en-US" sz="3000" b="false" i="false" u="none" strike="noStrike">
                <a:solidFill>
                  <a:srgbClr val="444444"/>
                </a:solidFill>
                <a:latin typeface="ONE Mobile OTF Regular"/>
              </a:rPr>
              <a:t> </a:t>
            </a:r>
            <a:r>
              <a:rPr lang="ko-KR" sz="3000" b="false" i="false" u="none" strike="noStrike">
                <a:solidFill>
                  <a:srgbClr val="444444"/>
                </a:solidFill>
                <a:ea typeface="ONE Mobile OTF Regular"/>
              </a:rPr>
              <a:t>프로젝트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531600" y="-1536700"/>
            <a:ext cx="8902700" cy="852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187700" y="2387600"/>
            <a:ext cx="22656800" cy="8305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93800" y="812800"/>
            <a:ext cx="160909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목차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2900" y="4495800"/>
            <a:ext cx="46736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프로젝트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배경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목적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역색인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기반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텍스트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검색기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구현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AND/OR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연산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지원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검색로그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인덱싱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스니펫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제공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5600" y="3683000"/>
            <a:ext cx="46990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444444"/>
                </a:solidFill>
                <a:ea typeface="ONE Mobile Title OTF"/>
              </a:rPr>
              <a:t>프로젝트</a:t>
            </a:r>
            <a:r>
              <a:rPr lang="en-US" sz="35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3500" b="false" i="false" u="none" strike="noStrike">
                <a:solidFill>
                  <a:srgbClr val="444444"/>
                </a:solidFill>
                <a:ea typeface="ONE Mobile Title OTF"/>
              </a:rPr>
              <a:t>개요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32600" y="4495800"/>
            <a:ext cx="46736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역색인의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정의와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중요성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일반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색인과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역색인의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차이점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검색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엔진에서의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활용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효율적인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검색을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위한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구조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45300" y="3683000"/>
            <a:ext cx="46990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444444"/>
                </a:solidFill>
                <a:ea typeface="ONE Mobile Title OTF"/>
              </a:rPr>
              <a:t>역색인</a:t>
            </a:r>
            <a:r>
              <a:rPr lang="en-US" sz="35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3500" b="false" i="false" u="none" strike="noStrike">
                <a:solidFill>
                  <a:srgbClr val="444444"/>
                </a:solidFill>
                <a:ea typeface="ONE Mobile Title OTF"/>
              </a:rPr>
              <a:t>개념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52300" y="4495800"/>
            <a:ext cx="4673600" cy="207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Posting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구조체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TermNode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구조체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Document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구조체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Hit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구조체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HitVec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구조체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52300" y="3683000"/>
            <a:ext cx="46990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444444"/>
                </a:solidFill>
                <a:ea typeface="ONE Mobile Title OTF"/>
              </a:rPr>
              <a:t>자료구조</a:t>
            </a:r>
            <a:r>
              <a:rPr lang="en-US" sz="35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3500" b="false" i="false" u="none" strike="noStrike">
                <a:solidFill>
                  <a:srgbClr val="444444"/>
                </a:solidFill>
                <a:ea typeface="ONE Mobile Title OTF"/>
              </a:rPr>
              <a:t>설계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2900" y="7302500"/>
            <a:ext cx="46736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해시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함수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설계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충돌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해결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방식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용어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저장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검색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메커니즘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효율적인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메모리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관리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5600" y="6489700"/>
            <a:ext cx="46990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444444"/>
                </a:solidFill>
                <a:ea typeface="ONE Mobile Title OTF"/>
              </a:rPr>
              <a:t>해시</a:t>
            </a:r>
            <a:r>
              <a:rPr lang="en-US" sz="35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3500" b="false" i="false" u="none" strike="noStrike">
                <a:solidFill>
                  <a:srgbClr val="444444"/>
                </a:solidFill>
                <a:ea typeface="ONE Mobile Title OTF"/>
              </a:rPr>
              <a:t>테이블</a:t>
            </a:r>
            <a:r>
              <a:rPr lang="en-US" sz="35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3500" b="false" i="false" u="none" strike="noStrike">
                <a:solidFill>
                  <a:srgbClr val="444444"/>
                </a:solidFill>
                <a:ea typeface="ONE Mobile Title OTF"/>
              </a:rPr>
              <a:t>구현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32600" y="7302500"/>
            <a:ext cx="46736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인덱싱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관련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함수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검색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쿼리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처리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과정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AND/OR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연산자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처리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결과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정렬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스코어링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45300" y="6489700"/>
            <a:ext cx="46990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444444"/>
                </a:solidFill>
                <a:ea typeface="ONE Mobile Title OTF"/>
              </a:rPr>
              <a:t>인덱싱</a:t>
            </a:r>
            <a:r>
              <a:rPr lang="en-US" sz="35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3500" b="false" i="false" u="none" strike="noStrike">
                <a:solidFill>
                  <a:srgbClr val="444444"/>
                </a:solidFill>
                <a:ea typeface="ONE Mobile Title OTF"/>
              </a:rPr>
              <a:t>및</a:t>
            </a:r>
            <a:r>
              <a:rPr lang="en-US" sz="35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3500" b="false" i="false" u="none" strike="noStrike">
                <a:solidFill>
                  <a:srgbClr val="444444"/>
                </a:solidFill>
                <a:ea typeface="ONE Mobile Title OTF"/>
              </a:rPr>
              <a:t>검색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52300" y="7302500"/>
            <a:ext cx="46736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프로그램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초기화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과정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사용자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입력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처리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검색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실행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결과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출력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자원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해제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프로그램</a:t>
            </a:r>
            <a:r>
              <a:rPr lang="en-US" sz="2200" b="false" i="false" u="none" strike="noStrike">
                <a:solidFill>
                  <a:srgbClr val="444444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444444"/>
                </a:solidFill>
                <a:ea typeface="Pretendard Regular"/>
              </a:rPr>
              <a:t>종료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52300" y="6489700"/>
            <a:ext cx="46990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444444"/>
                </a:solidFill>
                <a:ea typeface="ONE Mobile Title OTF"/>
              </a:rPr>
              <a:t>메인</a:t>
            </a:r>
            <a:r>
              <a:rPr lang="en-US" sz="35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3500" b="false" i="false" u="none" strike="noStrike">
                <a:solidFill>
                  <a:srgbClr val="444444"/>
                </a:solidFill>
                <a:ea typeface="ONE Mobile Title OTF"/>
              </a:rPr>
              <a:t>함수</a:t>
            </a:r>
            <a:r>
              <a:rPr lang="en-US" sz="35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3500" b="false" i="false" u="none" strike="noStrike">
                <a:solidFill>
                  <a:srgbClr val="444444"/>
                </a:solidFill>
                <a:ea typeface="ONE Mobile Title OTF"/>
              </a:rPr>
              <a:t>및</a:t>
            </a:r>
            <a:r>
              <a:rPr lang="en-US" sz="35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3500" b="false" i="false" u="none" strike="noStrike">
                <a:solidFill>
                  <a:srgbClr val="444444"/>
                </a:solidFill>
                <a:ea typeface="ONE Mobile Title OTF"/>
              </a:rPr>
              <a:t>결론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201400" y="-2616200"/>
            <a:ext cx="8902700" cy="852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558800" y="0"/>
            <a:ext cx="18859500" cy="2501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93800" y="812800"/>
            <a:ext cx="160909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프로젝트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개요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44600" y="3187700"/>
            <a:ext cx="4889500" cy="3060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244600" y="6794500"/>
            <a:ext cx="49657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프로젝트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목적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4600" y="7670800"/>
            <a:ext cx="49403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효율적인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텍스트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시스템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구현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역색인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기반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알고리즘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적용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실시간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및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결과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제공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자료구조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심화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학습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목적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92900" y="3187700"/>
            <a:ext cx="4889500" cy="3060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6692900" y="6794500"/>
            <a:ext cx="49657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주요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기능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92900" y="7670800"/>
            <a:ext cx="49403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AND/OR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논리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연산자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지원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결과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스코어링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및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정렬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로그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자동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인덱싱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관련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스니펫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(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문맥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)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제공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153900" y="3187700"/>
            <a:ext cx="4889500" cy="3060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2153900" y="6794500"/>
            <a:ext cx="49657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기술적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특징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53900" y="7670800"/>
            <a:ext cx="49403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해시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테이블을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활용한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빠른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포스팅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리스트로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용어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관계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관리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토큰화를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통한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쿼리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파싱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메모리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효율적인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자료구조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설계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201400" y="-2616200"/>
            <a:ext cx="8902700" cy="852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558800" y="0"/>
            <a:ext cx="18859500" cy="250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81100" y="3263900"/>
            <a:ext cx="7962900" cy="3327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81100" y="6248400"/>
            <a:ext cx="7962900" cy="3327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702800" y="3187700"/>
            <a:ext cx="7658100" cy="3683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14500" y="6807200"/>
            <a:ext cx="6985000" cy="7112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444444"/>
                </a:solidFill>
                <a:ea typeface="ONE Mobile Title OTF"/>
              </a:rPr>
              <a:t>검색</a:t>
            </a:r>
            <a:r>
              <a:rPr lang="en-US" sz="4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444444"/>
                </a:solidFill>
                <a:ea typeface="ONE Mobile Title OTF"/>
              </a:rPr>
              <a:t>엔진에서의</a:t>
            </a:r>
            <a:r>
              <a:rPr lang="en-US" sz="4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444444"/>
                </a:solidFill>
                <a:ea typeface="ONE Mobile Title OTF"/>
              </a:rPr>
              <a:t>활용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4500" y="7924800"/>
            <a:ext cx="6934200" cy="196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웹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엔진의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기본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구조</a:t>
            </a:r>
          </a:p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대용량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텍스트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데이터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처리</a:t>
            </a:r>
          </a:p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실시간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결과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제공</a:t>
            </a:r>
          </a:p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관련성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기반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결과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정렬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4500" y="3619500"/>
            <a:ext cx="6985000" cy="7112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444444"/>
                </a:solidFill>
                <a:ea typeface="ONE Mobile Title OTF"/>
              </a:rPr>
              <a:t>일반</a:t>
            </a:r>
            <a:r>
              <a:rPr lang="en-US" sz="4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444444"/>
                </a:solidFill>
                <a:ea typeface="ONE Mobile Title OTF"/>
              </a:rPr>
              <a:t>색인과</a:t>
            </a:r>
            <a:r>
              <a:rPr lang="en-US" sz="4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444444"/>
                </a:solidFill>
                <a:ea typeface="ONE Mobile Title OTF"/>
              </a:rPr>
              <a:t>역색인</a:t>
            </a:r>
            <a:r>
              <a:rPr lang="en-US" sz="4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444444"/>
                </a:solidFill>
                <a:ea typeface="ONE Mobile Title OTF"/>
              </a:rPr>
              <a:t>비교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4500" y="4711700"/>
            <a:ext cx="6946900" cy="196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일반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색인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: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문서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→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단어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매핑</a:t>
            </a:r>
          </a:p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역색인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: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단어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→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문서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매핑</a:t>
            </a:r>
          </a:p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일반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색인은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문서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탐색에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효율적</a:t>
            </a:r>
          </a:p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역색인은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검색에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최적화됨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3800" y="812800"/>
            <a:ext cx="160909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역색인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(Inverted Index)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의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개념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02800" y="7175500"/>
            <a:ext cx="7759700" cy="7112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역색인의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정의와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중요성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02800" y="8140700"/>
            <a:ext cx="7721600" cy="196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역색인은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단어를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키로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하여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해당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단어가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등장하는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문서들의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목록을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저장하는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자료구조입니다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.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엔진의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핵심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구성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요소로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,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빠른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결과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제공을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가능하게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합니다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.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용어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출현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빈도도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함께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저장하여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관련성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순위를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매길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수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있습니다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201400" y="-2616200"/>
            <a:ext cx="8902700" cy="852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558800" y="0"/>
            <a:ext cx="18859500" cy="250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93800" y="3263900"/>
            <a:ext cx="3530600" cy="7086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321300" y="3263900"/>
            <a:ext cx="3530600" cy="7086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448800" y="3263900"/>
            <a:ext cx="3530600" cy="708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576300" y="3263900"/>
            <a:ext cx="3530600" cy="7086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193800" y="812800"/>
            <a:ext cx="160909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주요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자료구조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설계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84300" y="5359400"/>
            <a:ext cx="3136900" cy="12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409700" y="4064000"/>
            <a:ext cx="30734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Posting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구조체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9700" y="5562600"/>
            <a:ext cx="3086100" cy="374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doc_id: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식별자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tf: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용어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빈도수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/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특정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내에서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용어의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출현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횟수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저장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/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결과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스코어링에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활용됨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511800" y="5359400"/>
            <a:ext cx="3136900" cy="12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5537200" y="3797300"/>
            <a:ext cx="30734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TermNode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구조체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37200" y="5562600"/>
            <a:ext cx="3086100" cy="332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term: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용어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(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단어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)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arr: Posting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배열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size: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배열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크기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cap: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배열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용량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next: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다음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노드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/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해시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테이블의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연결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리스트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구성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626600" y="5359400"/>
            <a:ext cx="3136900" cy="12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9652000" y="3797300"/>
            <a:ext cx="30734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Document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구조체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52000" y="5562600"/>
            <a:ext cx="3086100" cy="374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path: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경로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preview: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미리보기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텍스트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/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최대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길이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: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MAX_SNIPPET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/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결과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표시에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사용됨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766800" y="5359400"/>
            <a:ext cx="3136900" cy="127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3792200" y="4064000"/>
            <a:ext cx="30734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Hit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구조체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92200" y="5562600"/>
            <a:ext cx="3086100" cy="416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doc_id: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식별자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score: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점수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/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HitVec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구조체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: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Hit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배열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관리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/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결과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저장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및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정렬에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사용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/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관련성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정렬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201400" y="-2616200"/>
            <a:ext cx="8902700" cy="852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558800" y="0"/>
            <a:ext cx="18859500" cy="250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43800" y="3060700"/>
            <a:ext cx="9461500" cy="7226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17600" y="3060700"/>
            <a:ext cx="6121400" cy="3200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17600" y="6908800"/>
            <a:ext cx="61976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해시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함수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설계와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충돌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해결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3800" y="812800"/>
            <a:ext cx="160909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해시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테이블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구현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7600" y="7924800"/>
            <a:ext cx="6184900" cy="181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- hash_str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함수는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문자열을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해시값으로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변환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해시값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=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문자열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해시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% HASH_SIZE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충돌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해결을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위해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체이닝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(chaining)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방식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사용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각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버킷에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연결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리스트로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TermNode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저장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39100" y="3848100"/>
            <a:ext cx="8534400" cy="4953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444444"/>
                </a:solidFill>
                <a:ea typeface="ONE Mobile Title OTF"/>
              </a:rPr>
              <a:t>용어</a:t>
            </a:r>
            <a:r>
              <a:rPr lang="en-US" sz="28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2800" b="false" i="false" u="none" strike="noStrike">
                <a:solidFill>
                  <a:srgbClr val="444444"/>
                </a:solidFill>
                <a:ea typeface="ONE Mobile Title OTF"/>
              </a:rPr>
              <a:t>저장</a:t>
            </a:r>
            <a:r>
              <a:rPr lang="en-US" sz="28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2800" b="false" i="false" u="none" strike="noStrike">
                <a:solidFill>
                  <a:srgbClr val="444444"/>
                </a:solidFill>
                <a:ea typeface="ONE Mobile Title OTF"/>
              </a:rPr>
              <a:t>및</a:t>
            </a:r>
            <a:r>
              <a:rPr lang="en-US" sz="28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2800" b="false" i="false" u="none" strike="noStrike">
                <a:solidFill>
                  <a:srgbClr val="444444"/>
                </a:solidFill>
                <a:ea typeface="ONE Mobile Title OTF"/>
              </a:rPr>
              <a:t>검색</a:t>
            </a:r>
            <a:r>
              <a:rPr lang="en-US" sz="28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2800" b="false" i="false" u="none" strike="noStrike">
                <a:solidFill>
                  <a:srgbClr val="444444"/>
                </a:solidFill>
                <a:ea typeface="ONE Mobile Title OTF"/>
              </a:rPr>
              <a:t>메커니즘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39100" y="4597400"/>
            <a:ext cx="8521700" cy="514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index_get_or_insert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함수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: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용어를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해시테이블에서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없으면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새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TermNode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생성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후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삽입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있으면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기존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노드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반환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find_term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함수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: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용어를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해시테이블에서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검색만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수행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없으면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NULL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반환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termnode_free_chain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함수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: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연결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리스트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전체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메모리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해제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201400" y="-2616200"/>
            <a:ext cx="8902700" cy="852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558800" y="0"/>
            <a:ext cx="18859500" cy="2501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93800" y="812800"/>
            <a:ext cx="160909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인덱싱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관련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함수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44600" y="3187700"/>
            <a:ext cx="4889500" cy="3060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244600" y="6794500"/>
            <a:ext cx="49657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index_get_or_insert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4600" y="7670800"/>
            <a:ext cx="49403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용어를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해시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테이블에서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존재하지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않으면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새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TermNode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생성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해시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충돌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체이닝으로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해결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용어와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포스팅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리스트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연결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관리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92900" y="3187700"/>
            <a:ext cx="4889500" cy="3060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6692900" y="6794500"/>
            <a:ext cx="49657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postings_push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92900" y="7670800"/>
            <a:ext cx="49403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문서에서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발견된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용어의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출현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빈도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관리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같은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문서에서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재등장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tf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증가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새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문서에서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등장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새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포스팅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추가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필요시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포스팅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배열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동적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확장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153900" y="3187700"/>
            <a:ext cx="4889500" cy="3060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2153900" y="6337300"/>
            <a:ext cx="4965700" cy="9906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index_text_line &amp; index_file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53900" y="7670800"/>
            <a:ext cx="49403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index_text_line: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텍스트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라인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토큰화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알파벳과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숫자만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용어로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추출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소문자로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변환하여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정규화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index_file: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파일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전체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내용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인덱싱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201400" y="-2616200"/>
            <a:ext cx="8902700" cy="852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558800" y="0"/>
            <a:ext cx="18859500" cy="250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81100" y="3263900"/>
            <a:ext cx="7962900" cy="3327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81100" y="6248400"/>
            <a:ext cx="7962900" cy="3327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702800" y="3187700"/>
            <a:ext cx="7658100" cy="3683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14500" y="6807200"/>
            <a:ext cx="6985000" cy="7112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444444"/>
                </a:solidFill>
                <a:ea typeface="ONE Mobile Title OTF"/>
              </a:rPr>
              <a:t>토큰</a:t>
            </a:r>
            <a:r>
              <a:rPr lang="en-US" sz="4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444444"/>
                </a:solidFill>
                <a:ea typeface="ONE Mobile Title OTF"/>
              </a:rPr>
              <a:t>타입</a:t>
            </a:r>
            <a:r>
              <a:rPr lang="en-US" sz="4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444444"/>
                </a:solidFill>
                <a:ea typeface="ONE Mobile Title OTF"/>
              </a:rPr>
              <a:t>구분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4500" y="7924800"/>
            <a:ext cx="6934200" cy="196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TK_WORD: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일반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검색어</a:t>
            </a:r>
          </a:p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TK_AND: AND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연산자</a:t>
            </a:r>
          </a:p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TK_OR: OR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연산자</a:t>
            </a:r>
          </a:p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TK_END: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쿼리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종료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4500" y="3619500"/>
            <a:ext cx="6985000" cy="7112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444444"/>
                </a:solidFill>
                <a:latin typeface="ONE Mobile Title OTF"/>
              </a:rPr>
              <a:t>next_token </a:t>
            </a:r>
            <a:r>
              <a:rPr lang="ko-KR" sz="4000" b="false" i="false" u="none" strike="noStrike">
                <a:solidFill>
                  <a:srgbClr val="444444"/>
                </a:solidFill>
                <a:ea typeface="ONE Mobile Title OTF"/>
              </a:rPr>
              <a:t>함수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4500" y="4711700"/>
            <a:ext cx="6946900" cy="1460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입력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문자열에서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다음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토큰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추출</a:t>
            </a:r>
          </a:p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공백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건너뛰고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AND/OR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연산자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인식</a:t>
            </a:r>
          </a:p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일반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단어는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소문자로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변환하여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저장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3800" y="812800"/>
            <a:ext cx="160909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검색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쿼리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처리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(1)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02800" y="7175500"/>
            <a:ext cx="7759700" cy="7112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쿼리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파싱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및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토큰화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02800" y="8140700"/>
            <a:ext cx="7721600" cy="196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쿼리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처리의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첫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단계는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사용자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입력을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의미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있는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토큰으로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분리하는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과정입니다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.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이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과정에서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검색어와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연산자를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구분하고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,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검색어는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정규화하여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인덱스의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용어와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일치시킵니다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.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복잡한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쿼리도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일관되게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처리됩니다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201400" y="-2616200"/>
            <a:ext cx="8902700" cy="852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558800" y="0"/>
            <a:ext cx="18859500" cy="2501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93800" y="812800"/>
            <a:ext cx="160909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검색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쿼리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처리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(2)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44600" y="3187700"/>
            <a:ext cx="4889500" cy="3060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244600" y="6794500"/>
            <a:ext cx="49657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term_to_hits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함수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4600" y="7670800"/>
            <a:ext cx="49403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용어에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해당하는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TermNode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찾기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해당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용어가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출현한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목록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추출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각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문서의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ID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와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출현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빈도를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Hit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변환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HitVec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구조체에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결과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저장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92900" y="3187700"/>
            <a:ext cx="4889500" cy="3060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6692900" y="6794500"/>
            <a:ext cx="49657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hits_and/hits_or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함수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92900" y="7670800"/>
            <a:ext cx="49403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hits_and: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두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HitVec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의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교집합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계산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같은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문서에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모두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출현한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경우만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선택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hits_or: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두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HitVec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의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합집합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계산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중복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문서는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점수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합산하여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처리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153900" y="3187700"/>
            <a:ext cx="4889500" cy="3060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2153900" y="6794500"/>
            <a:ext cx="49657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결과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정렬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및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출력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53900" y="7670800"/>
            <a:ext cx="49403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결과를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점수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기준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내림차순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정렬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상위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10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결과만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사용자에게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표시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각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결과에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스니펫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정보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추가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소요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시간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및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결과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수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기록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201400" y="-2616200"/>
            <a:ext cx="8902700" cy="852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558800" y="0"/>
            <a:ext cx="18859500" cy="250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43800" y="3060700"/>
            <a:ext cx="9461500" cy="7226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17600" y="3060700"/>
            <a:ext cx="6121400" cy="3200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17600" y="6375400"/>
            <a:ext cx="6197600" cy="1066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get_snippet_for_doc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함수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: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검색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결과의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문맥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제공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3800" y="812800"/>
            <a:ext cx="160909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스니펫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생성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기능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7600" y="7924800"/>
            <a:ext cx="6184900" cy="181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스니펫은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검색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결과의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미리보기로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사용자가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문서의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클릭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전에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파악할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있게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합니다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. get_snippet_for_doc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함수는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검색어가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포함된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문서의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관련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부분을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추출하여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사용자에게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제공합니다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.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이는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검색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경험을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크게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Light"/>
              </a:rPr>
              <a:t>향상시킵니다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39100" y="3848100"/>
            <a:ext cx="8534400" cy="4953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444444"/>
                </a:solidFill>
                <a:ea typeface="ONE Mobile Title OTF"/>
              </a:rPr>
              <a:t>스니펫</a:t>
            </a:r>
            <a:r>
              <a:rPr lang="en-US" sz="28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2800" b="false" i="false" u="none" strike="noStrike">
                <a:solidFill>
                  <a:srgbClr val="444444"/>
                </a:solidFill>
                <a:ea typeface="ONE Mobile Title OTF"/>
              </a:rPr>
              <a:t>생성</a:t>
            </a:r>
            <a:r>
              <a:rPr lang="en-US" sz="28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2800" b="false" i="false" u="none" strike="noStrike">
                <a:solidFill>
                  <a:srgbClr val="444444"/>
                </a:solidFill>
                <a:ea typeface="ONE Mobile Title OTF"/>
              </a:rPr>
              <a:t>알고리즘의</a:t>
            </a:r>
            <a:r>
              <a:rPr lang="en-US" sz="28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2800" b="false" i="false" u="none" strike="noStrike">
                <a:solidFill>
                  <a:srgbClr val="444444"/>
                </a:solidFill>
                <a:ea typeface="ONE Mobile Title OTF"/>
              </a:rPr>
              <a:t>주요</a:t>
            </a:r>
            <a:r>
              <a:rPr lang="en-US" sz="28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2800" b="false" i="false" u="none" strike="noStrike">
                <a:solidFill>
                  <a:srgbClr val="444444"/>
                </a:solidFill>
                <a:ea typeface="ONE Mobile Title OTF"/>
              </a:rPr>
              <a:t>단계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39100" y="4597400"/>
            <a:ext cx="8521700" cy="372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1.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대상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파일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열기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2.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줄씩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읽으면서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포함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여부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확인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3.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검색어가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포함된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첫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번째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라인을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스니펫으로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선택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4.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라인이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너무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길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경우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적절히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잘라서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'...'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표시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추가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5.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검색어를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포함한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라인을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찾지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못한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경우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문서의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첫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줄을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기본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스니펫으로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사용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6. strcasestr_local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함수로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대소문자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구분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없이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매칭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7.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여러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중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하나라도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포함된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라인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선택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8.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최종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스니펫을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결과와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함께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표시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201400" y="-2616200"/>
            <a:ext cx="8902700" cy="852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558800" y="0"/>
            <a:ext cx="18859500" cy="250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81100" y="3263900"/>
            <a:ext cx="7962900" cy="3327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81100" y="6248400"/>
            <a:ext cx="7962900" cy="3327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702800" y="3187700"/>
            <a:ext cx="7658100" cy="3683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14500" y="6807200"/>
            <a:ext cx="6985000" cy="7112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444444"/>
                </a:solidFill>
                <a:ea typeface="ONE Mobile Title OTF"/>
              </a:rPr>
              <a:t>로그</a:t>
            </a:r>
            <a:r>
              <a:rPr lang="en-US" sz="4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444444"/>
                </a:solidFill>
                <a:ea typeface="ONE Mobile Title OTF"/>
              </a:rPr>
              <a:t>인덱싱</a:t>
            </a:r>
            <a:r>
              <a:rPr lang="en-US" sz="4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444444"/>
                </a:solidFill>
                <a:ea typeface="ONE Mobile Title OTF"/>
              </a:rPr>
              <a:t>기능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4500" y="7924800"/>
            <a:ext cx="6934200" cy="196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로그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파일도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가능한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문서로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인덱싱</a:t>
            </a:r>
          </a:p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g_log_doc_id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변수로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로그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문서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식별</a:t>
            </a:r>
          </a:p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로그에서도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키워드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가능</a:t>
            </a:r>
          </a:p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TAG:SEARCH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로그만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필터링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4500" y="3619500"/>
            <a:ext cx="6985000" cy="7112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444444"/>
                </a:solidFill>
                <a:ea typeface="ONE Mobile Title OTF"/>
              </a:rPr>
              <a:t>로그</a:t>
            </a:r>
            <a:r>
              <a:rPr lang="en-US" sz="4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444444"/>
                </a:solidFill>
                <a:ea typeface="ONE Mobile Title OTF"/>
              </a:rPr>
              <a:t>저장</a:t>
            </a:r>
            <a:r>
              <a:rPr lang="en-US" sz="4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444444"/>
                </a:solidFill>
                <a:ea typeface="ONE Mobile Title OTF"/>
              </a:rPr>
              <a:t>구조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4500" y="4711700"/>
            <a:ext cx="6946900" cy="196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시간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,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태그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,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쿼리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내용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기록</a:t>
            </a:r>
          </a:p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결과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수와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소요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시간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저장</a:t>
            </a:r>
          </a:p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ISO 8601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형식의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타임스탬프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사용</a:t>
            </a:r>
          </a:p>
          <a:p>
            <a:pPr algn="l" lvl="0">
              <a:lnSpc>
                <a:spcPct val="132800"/>
              </a:lnSpc>
            </a:pP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로그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파일에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추가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모드로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저장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3800" y="812800"/>
            <a:ext cx="160909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로깅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시스템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02800" y="7175500"/>
            <a:ext cx="7759700" cy="7112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검색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활동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기록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관리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02800" y="8140700"/>
            <a:ext cx="7721600" cy="196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로깅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시스템은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엔진의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사용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패턴과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성능을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분석하는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데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중요합니다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.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모든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활동이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기록되며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,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이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데이터는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시스템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개선과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사용자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행동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이해에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활용됩니다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.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로그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자체도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검색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가능한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문서로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500" b="false" i="false" u="none" strike="noStrike" spc="-100">
                <a:solidFill>
                  <a:srgbClr val="444444"/>
                </a:solidFill>
                <a:ea typeface="Pretendard Light"/>
              </a:rPr>
              <a:t>취급됩니다</a:t>
            </a:r>
            <a:r>
              <a:rPr lang="en-US" sz="2500" b="false" i="false" u="none" strike="noStrike" spc="-100">
                <a:solidFill>
                  <a:srgbClr val="444444"/>
                </a:solidFill>
                <a:latin typeface="Pretendard Light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201400" y="-2616200"/>
            <a:ext cx="8902700" cy="852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558800" y="0"/>
            <a:ext cx="18859500" cy="250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93800" y="3263900"/>
            <a:ext cx="3530600" cy="7086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321300" y="3263900"/>
            <a:ext cx="3530600" cy="7086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448800" y="3263900"/>
            <a:ext cx="3530600" cy="708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576300" y="3263900"/>
            <a:ext cx="3530600" cy="7086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193800" y="812800"/>
            <a:ext cx="160909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메인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함수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및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프로그램</a:t>
            </a:r>
            <a:r>
              <a:rPr lang="en-US" sz="7000" b="false" i="false" u="none" strike="noStrike">
                <a:solidFill>
                  <a:srgbClr val="444444"/>
                </a:solidFill>
                <a:latin typeface="ONE Mobile Title OTF"/>
              </a:rPr>
              <a:t> </a:t>
            </a: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흐름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84300" y="5359400"/>
            <a:ext cx="3136900" cy="12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409700" y="4064000"/>
            <a:ext cx="30734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초기화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과정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9700" y="5562600"/>
            <a:ext cx="3086100" cy="332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명령행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인자로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경로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받음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배열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할당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각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추가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및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인덱싱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로그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파일도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추가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인덱싱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완료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메시지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511800" y="5359400"/>
            <a:ext cx="3136900" cy="12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5537200" y="4064000"/>
            <a:ext cx="30734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사용자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입력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처리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37200" y="5562600"/>
            <a:ext cx="3086100" cy="332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무한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루프로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사용자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입력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대기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:quit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입력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시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프로그램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종료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빈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라인은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무시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개행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문자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제거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입력된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쿼리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run_query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전달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626600" y="5359400"/>
            <a:ext cx="3136900" cy="12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9652000" y="4064000"/>
            <a:ext cx="30734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검색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실행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52000" y="5562600"/>
            <a:ext cx="3086100" cy="374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쿼리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토큰화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검색어와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연산자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분리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용어별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히트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생성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AND/OR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연산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수행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결과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정렬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스니펫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생성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결과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출력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766800" y="5359400"/>
            <a:ext cx="3136900" cy="127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3792200" y="4064000"/>
            <a:ext cx="30734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자원</a:t>
            </a:r>
            <a:r>
              <a:rPr lang="en-US" sz="3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5B55FF"/>
                </a:solidFill>
                <a:ea typeface="ONE Mobile Title OTF"/>
              </a:rPr>
              <a:t>해제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92200" y="5562600"/>
            <a:ext cx="3086100" cy="374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해시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테이블의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모든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체인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해제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termnode_free_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chain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호출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모든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경로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메모리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해제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문서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배열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해제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-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프로그램</a:t>
            </a: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정상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 spc="-100">
                <a:solidFill>
                  <a:srgbClr val="444444"/>
                </a:solidFill>
                <a:latin typeface="Pretendard Light"/>
              </a:rPr>
              <a:t>  </a:t>
            </a:r>
            <a:r>
              <a:rPr lang="ko-KR" sz="2200" b="false" i="false" u="none" strike="noStrike" spc="-100">
                <a:solidFill>
                  <a:srgbClr val="444444"/>
                </a:solidFill>
                <a:ea typeface="Pretendard Light"/>
              </a:rPr>
              <a:t>종료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201400" y="-2616200"/>
            <a:ext cx="8902700" cy="852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558800" y="0"/>
            <a:ext cx="18859500" cy="250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81100" y="3556000"/>
            <a:ext cx="15646400" cy="6731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193800" y="812800"/>
            <a:ext cx="160909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444444"/>
                </a:solidFill>
                <a:ea typeface="ONE Mobile Title OTF"/>
              </a:rPr>
              <a:t>느낀점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4700" y="3784600"/>
            <a:ext cx="13919200" cy="6197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-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역색인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기반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검색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시스템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구현을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통해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실제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검색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엔진의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핵심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원리를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이해할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수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있었음</a:t>
            </a:r>
          </a:p>
          <a:p>
            <a:pPr algn="ctr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-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해시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테이블과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연결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리스트를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활용한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효율적인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데이터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구조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설계의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중요성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체험</a:t>
            </a:r>
          </a:p>
          <a:p>
            <a:pPr algn="ctr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- AND/OR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연산자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지원을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통해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복잡한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쿼리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처리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로직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구현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경험</a:t>
            </a:r>
          </a:p>
          <a:p>
            <a:pPr algn="ctr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-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스니펫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생성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알고리즘을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통해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사용자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경험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향상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방법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학습</a:t>
            </a:r>
          </a:p>
          <a:p>
            <a:pPr algn="ctr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-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검색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로그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인덱싱을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통한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메타데이터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활용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가능성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발견</a:t>
            </a:r>
          </a:p>
          <a:p>
            <a:pPr algn="ctr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-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자료구조와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알고리즘이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실제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응용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프로그램에서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어떻게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활용되는지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깊이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이해하게</a:t>
            </a:r>
            <a:r>
              <a:rPr lang="en-US" sz="4000" b="false" i="false" u="none" strike="noStrike">
                <a:solidFill>
                  <a:srgbClr val="5B55FF"/>
                </a:solidFill>
                <a:latin typeface="ONE Mobile Title OTF"/>
              </a:rPr>
              <a:t> </a:t>
            </a:r>
            <a:r>
              <a:rPr lang="ko-KR" sz="4000" b="false" i="false" u="none" strike="noStrike">
                <a:solidFill>
                  <a:srgbClr val="5B55FF"/>
                </a:solidFill>
                <a:ea typeface="ONE Mobile Title OTF"/>
              </a:rPr>
              <a:t>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